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5E"/>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41D42"/>
          </a:solidFill>
          <a:ln/>
        </p:spPr>
      </p:sp>
      <p:pic>
        <p:nvPicPr>
          <p:cNvPr id="3" name="Image 0" descr="/home/claude/cognitiveos/assets/hero_network.png">    </p:cNvPr>
          <p:cNvPicPr>
            <a:picLocks noChangeAspect="1"/>
          </p:cNvPicPr>
          <p:nvPr/>
        </p:nvPicPr>
        <p:blipFill>
          <a:blip r:embed="rId1"/>
          <a:stretch>
            <a:fillRect/>
          </a:stretch>
        </p:blipFill>
        <p:spPr>
          <a:xfrm>
            <a:off x="365760" y="1691640"/>
            <a:ext cx="3474720" cy="3474720"/>
          </a:xfrm>
          <a:prstGeom prst="rect">
            <a:avLst/>
          </a:prstGeom>
        </p:spPr>
      </p:pic>
      <p:sp>
        <p:nvSpPr>
          <p:cNvPr id="4" name="Text 1"/>
          <p:cNvSpPr/>
          <p:nvPr/>
        </p:nvSpPr>
        <p:spPr>
          <a:xfrm>
            <a:off x="457200" y="5212080"/>
            <a:ext cx="3291840" cy="320040"/>
          </a:xfrm>
          <a:prstGeom prst="rect">
            <a:avLst/>
          </a:prstGeom>
          <a:noFill/>
          <a:ln/>
        </p:spPr>
        <p:txBody>
          <a:bodyPr wrap="square" rtlCol="0" anchor="ctr"/>
          <a:lstStyle/>
          <a:p>
            <a:pPr algn="ctr" indent="0" marL="0">
              <a:buNone/>
            </a:pPr>
            <a:r>
              <a:rPr lang="en-US" sz="1200" b="1" spc="300" kern="0" dirty="0">
                <a:solidFill>
                  <a:srgbClr val="AEB6D6"/>
                </a:solidFill>
                <a:latin typeface="Calibri" pitchFamily="34" charset="0"/>
                <a:ea typeface="Calibri" pitchFamily="34" charset="-122"/>
                <a:cs typeface="Calibri" pitchFamily="34" charset="-120"/>
              </a:rPr>
              <a:t>MONKEYPATCHED</a:t>
            </a:r>
            <a:endParaRPr lang="en-US" sz="1200" dirty="0"/>
          </a:p>
        </p:txBody>
      </p:sp>
      <p:sp>
        <p:nvSpPr>
          <p:cNvPr id="5" name="Text 2"/>
          <p:cNvSpPr/>
          <p:nvPr/>
        </p:nvSpPr>
        <p:spPr>
          <a:xfrm>
            <a:off x="4663440" y="2286000"/>
            <a:ext cx="6858000" cy="1005840"/>
          </a:xfrm>
          <a:prstGeom prst="rect">
            <a:avLst/>
          </a:prstGeom>
          <a:noFill/>
          <a:ln/>
        </p:spPr>
        <p:txBody>
          <a:bodyPr wrap="square" rtlCol="0" anchor="ctr"/>
          <a:lstStyle/>
          <a:p>
            <a:pPr indent="0" marL="0">
              <a:buNone/>
            </a:pPr>
            <a:r>
              <a:rPr lang="en-US" sz="5200" dirty="0">
                <a:solidFill>
                  <a:srgbClr val="FFFFFF"/>
                </a:solidFill>
                <a:latin typeface="Georgia" pitchFamily="34" charset="0"/>
                <a:ea typeface="Georgia" pitchFamily="34" charset="-122"/>
                <a:cs typeface="Georgia" pitchFamily="34" charset="-120"/>
              </a:rPr>
              <a:t>CognitiveOS</a:t>
            </a:r>
            <a:endParaRPr lang="en-US" sz="5200" dirty="0"/>
          </a:p>
        </p:txBody>
      </p:sp>
      <p:sp>
        <p:nvSpPr>
          <p:cNvPr id="6" name="Text 3"/>
          <p:cNvSpPr/>
          <p:nvPr/>
        </p:nvSpPr>
        <p:spPr>
          <a:xfrm>
            <a:off x="4663440" y="3383280"/>
            <a:ext cx="6858000" cy="640080"/>
          </a:xfrm>
          <a:prstGeom prst="rect">
            <a:avLst/>
          </a:prstGeom>
          <a:noFill/>
          <a:ln/>
        </p:spPr>
        <p:txBody>
          <a:bodyPr wrap="square" rtlCol="0" anchor="ctr"/>
          <a:lstStyle/>
          <a:p>
            <a:pPr indent="0" marL="0">
              <a:buNone/>
            </a:pPr>
            <a:r>
              <a:rPr lang="en-US" sz="2400" dirty="0">
                <a:solidFill>
                  <a:srgbClr val="C7CCE3"/>
                </a:solidFill>
                <a:latin typeface="Georgia" pitchFamily="34" charset="0"/>
                <a:ea typeface="Georgia" pitchFamily="34" charset="-122"/>
                <a:cs typeface="Georgia" pitchFamily="34" charset="-120"/>
              </a:rPr>
              <a:t>The Operating System for the Physical World</a:t>
            </a:r>
            <a:endParaRPr lang="en-US" sz="2400" dirty="0"/>
          </a:p>
        </p:txBody>
      </p:sp>
      <p:sp>
        <p:nvSpPr>
          <p:cNvPr id="7" name="Text 4"/>
          <p:cNvSpPr/>
          <p:nvPr/>
        </p:nvSpPr>
        <p:spPr>
          <a:xfrm>
            <a:off x="4663440" y="6035040"/>
            <a:ext cx="6766560" cy="365760"/>
          </a:xfrm>
          <a:prstGeom prst="rect">
            <a:avLst/>
          </a:prstGeom>
          <a:noFill/>
          <a:ln/>
        </p:spPr>
        <p:txBody>
          <a:bodyPr wrap="square" rtlCol="0" anchor="ctr"/>
          <a:lstStyle/>
          <a:p>
            <a:pPr indent="0" marL="0">
              <a:buNone/>
            </a:pPr>
            <a:r>
              <a:rPr lang="en-US" sz="1200" i="1" dirty="0">
                <a:solidFill>
                  <a:srgbClr val="8B93B8"/>
                </a:solidFill>
                <a:latin typeface="Calibri" pitchFamily="34" charset="0"/>
                <a:ea typeface="Calibri" pitchFamily="34" charset="-122"/>
                <a:cs typeface="Calibri" pitchFamily="34" charset="-120"/>
              </a:rPr>
              <a:t>Prashun Javeri  —  Founder, Monkeypatched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822960"/>
            <a:ext cx="7315200" cy="320040"/>
          </a:xfrm>
          <a:prstGeom prst="rect">
            <a:avLst/>
          </a:prstGeom>
          <a:noFill/>
          <a:ln/>
        </p:spPr>
        <p:txBody>
          <a:bodyPr wrap="square" rtlCol="0" anchor="ctr"/>
          <a:lstStyle/>
          <a:p>
            <a:pPr indent="0" marL="0">
              <a:buNone/>
            </a:pPr>
            <a:r>
              <a:rPr lang="en-US" sz="1200" b="1" spc="200" kern="0" dirty="0">
                <a:solidFill>
                  <a:srgbClr val="5C6478"/>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822960" y="1417320"/>
            <a:ext cx="9601200" cy="4754880"/>
          </a:xfrm>
          <a:prstGeom prst="rect">
            <a:avLst/>
          </a:prstGeom>
          <a:noFill/>
          <a:ln/>
        </p:spPr>
        <p:txBody>
          <a:bodyPr wrap="square" rtlCol="0" anchor="t"/>
          <a:lstStyle/>
          <a:p>
            <a:pPr indent="0" marL="0">
              <a:lnSpc>
                <a:spcPts val="2800"/>
              </a:lnSpc>
              <a:buNone/>
            </a:pPr>
            <a:r>
              <a:rPr lang="en-US" sz="2200" dirty="0">
                <a:solidFill>
                  <a:srgbClr val="1A1D2E"/>
                </a:solidFill>
                <a:latin typeface="Calibri" pitchFamily="34" charset="0"/>
                <a:ea typeface="Calibri" pitchFamily="34" charset="-122"/>
                <a:cs typeface="Calibri" pitchFamily="34" charset="-120"/>
              </a:rPr>
              <a:t>Most agents are built on
</a:t>
            </a:r>
            <a:pPr indent="0" marL="0">
              <a:lnSpc>
                <a:spcPts val="2800"/>
              </a:lnSpc>
              <a:buNone/>
            </a:pPr>
            <a:r>
              <a:rPr lang="en-US" sz="2400" b="1" dirty="0">
                <a:solidFill>
                  <a:srgbClr val="1E2A5E"/>
                </a:solidFill>
                <a:latin typeface="Calibri" pitchFamily="34" charset="0"/>
                <a:ea typeface="Calibri" pitchFamily="34" charset="-122"/>
                <a:cs typeface="Calibri" pitchFamily="34" charset="-120"/>
              </a:rPr>
              <a:t>Prompt → LLM → Tool Call → Result.
</a:t>
            </a:r>
            <a:pPr indent="0" marL="0">
              <a:lnSpc>
                <a:spcPts val="2800"/>
              </a:lnSpc>
              <a:buNone/>
            </a:pPr>
            <a:r>
              <a:rPr lang="en-US" sz="1600" dirty="0">
                <a:solidFill>
                  <a:srgbClr val="5C6478"/>
                </a:solidFill>
                <a:latin typeface="Calibri" pitchFamily="34" charset="0"/>
                <a:ea typeface="Calibri" pitchFamily="34" charset="-122"/>
                <a:cs typeface="Calibri" pitchFamily="34" charset="-120"/>
              </a:rPr>
              <a:t>That works fine when the world holds still. It breaks the moment an agent sees milk in stock, plans the purchase, and by the time it executes, the milk is gone — and so is your dad who left to get milk.
</a:t>
            </a:r>
            <a:pPr indent="0" marL="0">
              <a:lnSpc>
                <a:spcPts val="2800"/>
              </a:lnSpc>
              <a:buNone/>
            </a:pPr>
            <a:r>
              <a:rPr lang="en-US" sz="1800" b="1" i="1" dirty="0">
                <a:solidFill>
                  <a:srgbClr val="1A1D2E"/>
                </a:solidFill>
                <a:latin typeface="Calibri" pitchFamily="34" charset="0"/>
                <a:ea typeface="Calibri" pitchFamily="34" charset="-122"/>
                <a:cs typeface="Calibri" pitchFamily="34" charset="-120"/>
              </a:rPr>
              <a:t>The model didn't reason badly. Reality just moved.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822960" y="822960"/>
            <a:ext cx="7315200" cy="320040"/>
          </a:xfrm>
          <a:prstGeom prst="rect">
            <a:avLst/>
          </a:prstGeom>
          <a:noFill/>
          <a:ln/>
        </p:spPr>
        <p:txBody>
          <a:bodyPr wrap="square" rtlCol="0" anchor="ctr"/>
          <a:lstStyle/>
          <a:p>
            <a:pPr indent="0" marL="0">
              <a:buNone/>
            </a:pPr>
            <a:r>
              <a:rPr lang="en-US" sz="1200" b="1" spc="200" kern="0" dirty="0">
                <a:solidFill>
                  <a:srgbClr val="8B93B8"/>
                </a:solidFill>
                <a:latin typeface="Calibri" pitchFamily="34" charset="0"/>
                <a:ea typeface="Calibri" pitchFamily="34" charset="-122"/>
                <a:cs typeface="Calibri" pitchFamily="34" charset="-120"/>
              </a:rPr>
              <a:t>THE REFRAME</a:t>
            </a:r>
            <a:endParaRPr lang="en-US" sz="1200" dirty="0"/>
          </a:p>
        </p:txBody>
      </p:sp>
      <p:sp>
        <p:nvSpPr>
          <p:cNvPr id="3" name="Text 1"/>
          <p:cNvSpPr/>
          <p:nvPr/>
        </p:nvSpPr>
        <p:spPr>
          <a:xfrm>
            <a:off x="822960" y="1554480"/>
            <a:ext cx="10515600" cy="1463040"/>
          </a:xfrm>
          <a:prstGeom prst="rect">
            <a:avLst/>
          </a:prstGeom>
          <a:noFill/>
          <a:ln/>
        </p:spPr>
        <p:txBody>
          <a:bodyPr wrap="square" rtlCol="0" anchor="t"/>
          <a:lstStyle/>
          <a:p>
            <a:pPr indent="0" marL="0">
              <a:lnSpc>
                <a:spcPts val="3400"/>
              </a:lnSpc>
              <a:buNone/>
            </a:pPr>
            <a:r>
              <a:rPr lang="en-US" sz="2400" dirty="0">
                <a:solidFill>
                  <a:srgbClr val="C7CCE3"/>
                </a:solidFill>
                <a:latin typeface="Georgia" pitchFamily="34" charset="0"/>
                <a:ea typeface="Georgia" pitchFamily="34" charset="-122"/>
                <a:cs typeface="Georgia" pitchFamily="34" charset="-120"/>
              </a:rPr>
              <a:t>Most agent systems build agents that can call tools. </a:t>
            </a:r>
            <a:pPr indent="0" marL="0">
              <a:lnSpc>
                <a:spcPts val="3400"/>
              </a:lnSpc>
              <a:buNone/>
            </a:pPr>
            <a:r>
              <a:rPr lang="en-US" sz="2400" b="1" dirty="0">
                <a:solidFill>
                  <a:srgbClr val="FFFFFF"/>
                </a:solidFill>
                <a:latin typeface="Georgia" pitchFamily="34" charset="0"/>
                <a:ea typeface="Georgia" pitchFamily="34" charset="-122"/>
                <a:cs typeface="Georgia" pitchFamily="34" charset="-120"/>
              </a:rPr>
              <a:t>Monkeypatched builds the operating system that lets autonomous actors exist inside a changing world.</a:t>
            </a:r>
            <a:endParaRPr lang="en-US" sz="2400" dirty="0"/>
          </a:p>
        </p:txBody>
      </p:sp>
      <p:sp>
        <p:nvSpPr>
          <p:cNvPr id="4" name="Shape 2"/>
          <p:cNvSpPr/>
          <p:nvPr/>
        </p:nvSpPr>
        <p:spPr>
          <a:xfrm>
            <a:off x="822960" y="3429000"/>
            <a:ext cx="3200400" cy="0"/>
          </a:xfrm>
          <a:prstGeom prst="line">
            <a:avLst/>
          </a:prstGeom>
          <a:noFill/>
          <a:ln w="25400">
            <a:solidFill>
              <a:srgbClr val="E07B39"/>
            </a:solidFill>
            <a:prstDash val="solid"/>
          </a:ln>
        </p:spPr>
      </p:sp>
      <p:sp>
        <p:nvSpPr>
          <p:cNvPr id="5" name="Text 3"/>
          <p:cNvSpPr/>
          <p:nvPr/>
        </p:nvSpPr>
        <p:spPr>
          <a:xfrm>
            <a:off x="822960" y="3749040"/>
            <a:ext cx="10058400" cy="2194560"/>
          </a:xfrm>
          <a:prstGeom prst="rect">
            <a:avLst/>
          </a:prstGeom>
          <a:noFill/>
          <a:ln/>
        </p:spPr>
        <p:txBody>
          <a:bodyPr wrap="square" rtlCol="0" anchor="t"/>
          <a:lstStyle/>
          <a:p>
            <a:pPr indent="0" marL="0">
              <a:lnSpc>
                <a:spcPts val="2600"/>
              </a:lnSpc>
              <a:buNone/>
            </a:pPr>
            <a:r>
              <a:rPr lang="en-US" sz="1650" dirty="0">
                <a:solidFill>
                  <a:srgbClr val="C7CCE3"/>
                </a:solidFill>
                <a:latin typeface="Calibri" pitchFamily="34" charset="0"/>
                <a:ea typeface="Calibri" pitchFamily="34" charset="-122"/>
                <a:cs typeface="Calibri" pitchFamily="34" charset="-120"/>
              </a:rPr>
              <a:t>CognitiveOS enables autonomous entities to interact with the world in a state-aware way — continuously grounding decisions in changing world state, updating local and global state through action, and learning from the results.</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A5E"/>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41D42"/>
          </a:solidFill>
          <a:ln/>
        </p:spPr>
      </p:sp>
      <p:pic>
        <p:nvPicPr>
          <p:cNvPr id="3" name="Image 0" descr="/home/claude/cognitiveos/assets/hero_contact.png">    </p:cNvPr>
          <p:cNvPicPr>
            <a:picLocks noChangeAspect="1"/>
          </p:cNvPicPr>
          <p:nvPr/>
        </p:nvPicPr>
        <p:blipFill>
          <a:blip r:embed="rId1"/>
          <a:stretch>
            <a:fillRect/>
          </a:stretch>
        </p:blipFill>
        <p:spPr>
          <a:xfrm>
            <a:off x="502920" y="1737360"/>
            <a:ext cx="3200400" cy="3749040"/>
          </a:xfrm>
          <a:prstGeom prst="rect">
            <a:avLst/>
          </a:prstGeom>
        </p:spPr>
      </p:pic>
      <p:sp>
        <p:nvSpPr>
          <p:cNvPr id="4" name="Text 1"/>
          <p:cNvSpPr/>
          <p:nvPr/>
        </p:nvSpPr>
        <p:spPr>
          <a:xfrm>
            <a:off x="4663440" y="1371600"/>
            <a:ext cx="6766560" cy="1097280"/>
          </a:xfrm>
          <a:prstGeom prst="rect">
            <a:avLst/>
          </a:prstGeom>
          <a:noFill/>
          <a:ln/>
        </p:spPr>
        <p:txBody>
          <a:bodyPr wrap="square" rtlCol="0" anchor="t"/>
          <a:lstStyle/>
          <a:p>
            <a:pPr indent="0" marL="0">
              <a:lnSpc>
                <a:spcPts val="2800"/>
              </a:lnSpc>
              <a:buNone/>
            </a:pPr>
            <a:r>
              <a:rPr lang="en-US" sz="2200" b="1" dirty="0">
                <a:solidFill>
                  <a:srgbClr val="FFFFFF"/>
                </a:solidFill>
                <a:latin typeface="Georgia" pitchFamily="34" charset="0"/>
                <a:ea typeface="Georgia" pitchFamily="34" charset="-122"/>
                <a:cs typeface="Georgia" pitchFamily="34" charset="-120"/>
              </a:rPr>
              <a:t>We're taking this from validated architecture into design-partner deployments now.</a:t>
            </a:r>
            <a:endParaRPr lang="en-US" sz="2200" dirty="0"/>
          </a:p>
        </p:txBody>
      </p:sp>
      <p:sp>
        <p:nvSpPr>
          <p:cNvPr id="5" name="Text 2"/>
          <p:cNvSpPr/>
          <p:nvPr/>
        </p:nvSpPr>
        <p:spPr>
          <a:xfrm>
            <a:off x="4663440" y="2606040"/>
            <a:ext cx="6766560" cy="1188720"/>
          </a:xfrm>
          <a:prstGeom prst="rect">
            <a:avLst/>
          </a:prstGeom>
          <a:noFill/>
          <a:ln/>
        </p:spPr>
        <p:txBody>
          <a:bodyPr wrap="square" rtlCol="0" anchor="t"/>
          <a:lstStyle/>
          <a:p>
            <a:pPr indent="0" marL="0">
              <a:lnSpc>
                <a:spcPts val="2400"/>
              </a:lnSpc>
              <a:buNone/>
            </a:pPr>
            <a:r>
              <a:rPr lang="en-US" sz="1600" i="1" dirty="0">
                <a:solidFill>
                  <a:srgbClr val="C7CCE3"/>
                </a:solidFill>
                <a:latin typeface="Calibri" pitchFamily="34" charset="0"/>
                <a:ea typeface="Calibri" pitchFamily="34" charset="-122"/>
                <a:cs typeface="Calibri" pitchFamily="34" charset="-120"/>
              </a:rPr>
              <a:t>If you're running the systems that already run your business — and don't want to throw them away for AI — I'd like to talk.</a:t>
            </a:r>
            <a:endParaRPr lang="en-US" sz="1600" dirty="0"/>
          </a:p>
        </p:txBody>
      </p:sp>
      <p:pic>
        <p:nvPicPr>
          <p:cNvPr id="6" name="Image 1" descr="/home/claude/cognitiveos/assets/icon_phone.png">    </p:cNvPr>
          <p:cNvPicPr>
            <a:picLocks noChangeAspect="1"/>
          </p:cNvPicPr>
          <p:nvPr/>
        </p:nvPicPr>
        <p:blipFill>
          <a:blip r:embed="rId2"/>
          <a:stretch>
            <a:fillRect/>
          </a:stretch>
        </p:blipFill>
        <p:spPr>
          <a:xfrm>
            <a:off x="4663440" y="4251960"/>
            <a:ext cx="274320" cy="274320"/>
          </a:xfrm>
          <a:prstGeom prst="rect">
            <a:avLst/>
          </a:prstGeom>
        </p:spPr>
      </p:pic>
      <p:sp>
        <p:nvSpPr>
          <p:cNvPr id="7" name="Text 3"/>
          <p:cNvSpPr/>
          <p:nvPr/>
        </p:nvSpPr>
        <p:spPr>
          <a:xfrm>
            <a:off x="5074920" y="4206240"/>
            <a:ext cx="5486400" cy="3657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+91 8779857307</a:t>
            </a:r>
            <a:endParaRPr lang="en-US" sz="1500" dirty="0"/>
          </a:p>
        </p:txBody>
      </p:sp>
      <p:pic>
        <p:nvPicPr>
          <p:cNvPr id="8" name="Image 2" descr="/home/claude/cognitiveos/assets/icon_mail.png">    </p:cNvPr>
          <p:cNvPicPr>
            <a:picLocks noChangeAspect="1"/>
          </p:cNvPicPr>
          <p:nvPr/>
        </p:nvPicPr>
        <p:blipFill>
          <a:blip r:embed="rId3"/>
          <a:stretch>
            <a:fillRect/>
          </a:stretch>
        </p:blipFill>
        <p:spPr>
          <a:xfrm>
            <a:off x="4663440" y="4709160"/>
            <a:ext cx="274320" cy="274320"/>
          </a:xfrm>
          <a:prstGeom prst="rect">
            <a:avLst/>
          </a:prstGeom>
        </p:spPr>
      </p:pic>
      <p:sp>
        <p:nvSpPr>
          <p:cNvPr id="9" name="Text 4"/>
          <p:cNvSpPr/>
          <p:nvPr/>
        </p:nvSpPr>
        <p:spPr>
          <a:xfrm>
            <a:off x="5074920" y="4663440"/>
            <a:ext cx="5486400" cy="3657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prashun@monkeypatched.com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2026-08-24T13:57:35Z</dcterms:created>
  <dcterms:modified xsi:type="dcterms:W3CDTF">2026-08-24T13:57:35Z</dcterms:modified>
</cp:coreProperties>
</file>